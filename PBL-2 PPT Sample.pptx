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strument Sans SemiBold" panose="020B0604020202020204" charset="0"/>
      <p:regular r:id="rId16"/>
      <p:bold r:id="rId17"/>
      <p:italic r:id="rId18"/>
      <p:boldItalic r:id="rId19"/>
    </p:embeddedFont>
    <p:embeddedFont>
      <p:font typeface="Play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0" y="2690036"/>
            <a:ext cx="12192000" cy="122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 sz="4400" dirty="0"/>
              <a:t>AI Driven Research Engine for Commercial Courts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927273" y="4898068"/>
            <a:ext cx="3147117" cy="120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lang="en-IN" dirty="0"/>
              <a:t>Submitted By:</a:t>
            </a:r>
            <a:br>
              <a:rPr lang="en-IN" dirty="0"/>
            </a:br>
            <a:r>
              <a:rPr lang="en-IN" b="1" dirty="0"/>
              <a:t>Shreyas Kumar Singh</a:t>
            </a:r>
            <a:endParaRPr b="1" dirty="0"/>
          </a:p>
          <a:p>
            <a:pPr marL="0" indent="0">
              <a:lnSpc>
                <a:spcPct val="110000"/>
              </a:lnSpc>
            </a:pPr>
            <a:r>
              <a:rPr lang="en-IN" b="1" dirty="0"/>
              <a:t>2427030027</a:t>
            </a:r>
            <a:endParaRPr b="1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7901202" y="5063930"/>
            <a:ext cx="4290798" cy="87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>
              <a:buClr>
                <a:schemeClr val="dk1"/>
              </a:buClr>
              <a:buSzPts val="2400"/>
            </a:pPr>
            <a:r>
              <a:rPr lang="en-IN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Supervised By:</a:t>
            </a:r>
            <a:br>
              <a:rPr lang="en-IN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2200" b="1" dirty="0"/>
              <a:t>Dr. Shishir Singh Chauhan </a:t>
            </a:r>
            <a:r>
              <a:rPr lang="en-IN" sz="2200" dirty="0">
                <a:solidFill>
                  <a:schemeClr val="dk1"/>
                </a:solidFill>
              </a:rPr>
              <a:t> </a:t>
            </a:r>
            <a:endParaRPr sz="2200" dirty="0"/>
          </a:p>
        </p:txBody>
      </p:sp>
      <p:pic>
        <p:nvPicPr>
          <p:cNvPr id="87" name="Google Shape;87;p13" descr="A black and white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0977" y="83885"/>
            <a:ext cx="3844226" cy="122274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85000" lnSpcReduction="20000"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 sz="2800" b="1" i="0" u="none" strike="noStrike" cap="none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School of Computer Science and Engineering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 sz="2800" b="1" i="0" u="none" strike="noStrike" cap="none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Department of Computer Science and Engineering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Outline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 dirty="0"/>
              <a:t>Introduction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 dirty="0"/>
              <a:t>Literature Review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 dirty="0"/>
              <a:t>Problem Statement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 dirty="0"/>
              <a:t>Proposed Solution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 dirty="0"/>
              <a:t>Objectives</a:t>
            </a:r>
            <a:endParaRPr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Introduction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838200" y="1390280"/>
            <a:ext cx="10515600" cy="48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1800" dirty="0"/>
              <a:t>Artificial Intelligence (AI) is transforming industries, including the </a:t>
            </a:r>
            <a:r>
              <a:rPr lang="en-IN" sz="1800" b="1" dirty="0"/>
              <a:t>judicial and legal sector</a:t>
            </a:r>
            <a:r>
              <a:rPr lang="en-IN" sz="1800" dirty="0"/>
              <a:t>.</a:t>
            </a:r>
            <a:endParaRPr sz="1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1800" b="1" dirty="0"/>
              <a:t>Commercial courts</a:t>
            </a:r>
            <a:r>
              <a:rPr lang="en-IN" sz="1800" dirty="0"/>
              <a:t> handle high-value and complex business disputes involving contracts, IP, and corporate issues.</a:t>
            </a:r>
            <a:endParaRPr sz="1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1800" dirty="0"/>
              <a:t>Managing </a:t>
            </a:r>
            <a:r>
              <a:rPr lang="en-IN" sz="1800" b="1" dirty="0"/>
              <a:t>large volumes of legal data</a:t>
            </a:r>
            <a:r>
              <a:rPr lang="en-IN" sz="1800" dirty="0"/>
              <a:t> and research manually causes inefficiency and delays.</a:t>
            </a:r>
            <a:endParaRPr sz="1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1800" dirty="0"/>
              <a:t>Traditional legal research methods are </a:t>
            </a:r>
            <a:r>
              <a:rPr lang="en-IN" sz="1800" b="1" dirty="0"/>
              <a:t>time-consuming</a:t>
            </a:r>
            <a:r>
              <a:rPr lang="en-IN" sz="1800" dirty="0"/>
              <a:t>, </a:t>
            </a:r>
            <a:r>
              <a:rPr lang="en-IN" sz="1800" b="1" dirty="0"/>
              <a:t>manual</a:t>
            </a:r>
            <a:r>
              <a:rPr lang="en-IN" sz="1800" dirty="0"/>
              <a:t>, and </a:t>
            </a:r>
            <a:r>
              <a:rPr lang="en-IN" sz="1800" b="1" dirty="0"/>
              <a:t>prone to human error</a:t>
            </a:r>
            <a:r>
              <a:rPr lang="en-IN" sz="1800" dirty="0"/>
              <a:t>.</a:t>
            </a:r>
            <a:endParaRPr sz="1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1800" dirty="0"/>
              <a:t>Increasing </a:t>
            </a:r>
            <a:r>
              <a:rPr lang="en-IN" sz="1800" b="1" dirty="0"/>
              <a:t>case backlogs</a:t>
            </a:r>
            <a:r>
              <a:rPr lang="en-IN" sz="1800" dirty="0"/>
              <a:t> and </a:t>
            </a:r>
            <a:r>
              <a:rPr lang="en-IN" sz="1800" b="1" dirty="0"/>
              <a:t>growing legal data</a:t>
            </a:r>
            <a:r>
              <a:rPr lang="en-IN" sz="1800" dirty="0"/>
              <a:t> demand intelligent automation.</a:t>
            </a:r>
            <a:endParaRPr sz="1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1800" dirty="0"/>
              <a:t>Judges and tribunal members need </a:t>
            </a:r>
            <a:r>
              <a:rPr lang="en-IN" sz="1800" b="1" dirty="0"/>
              <a:t>faster access</a:t>
            </a:r>
            <a:r>
              <a:rPr lang="en-IN" sz="1800" dirty="0"/>
              <a:t> to relevant case laws, precedents, and statutes.</a:t>
            </a:r>
            <a:endParaRPr sz="1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1800" dirty="0"/>
              <a:t>AI can </a:t>
            </a:r>
            <a:r>
              <a:rPr lang="en-IN" sz="1800" b="1" dirty="0"/>
              <a:t>automate research</a:t>
            </a:r>
            <a:r>
              <a:rPr lang="en-IN" sz="1800" dirty="0"/>
              <a:t>, </a:t>
            </a:r>
            <a:r>
              <a:rPr lang="en-IN" sz="1800" b="1" dirty="0" err="1"/>
              <a:t>analyze</a:t>
            </a:r>
            <a:r>
              <a:rPr lang="en-IN" sz="1800" b="1" dirty="0"/>
              <a:t> judgments</a:t>
            </a:r>
            <a:r>
              <a:rPr lang="en-IN" sz="1800" dirty="0"/>
              <a:t>, and </a:t>
            </a:r>
            <a:r>
              <a:rPr lang="en-IN" sz="1800" b="1" dirty="0"/>
              <a:t>predict case outcomes</a:t>
            </a:r>
            <a:r>
              <a:rPr lang="en-IN" sz="1800" dirty="0"/>
              <a:t> with high accuracy.</a:t>
            </a:r>
            <a:endParaRPr sz="1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1800" dirty="0"/>
              <a:t>The proposed system uses </a:t>
            </a:r>
            <a:r>
              <a:rPr lang="en-IN" sz="1800" b="1" dirty="0"/>
              <a:t>Machine Learning (ML)</a:t>
            </a:r>
            <a:r>
              <a:rPr lang="en-IN" sz="1800" dirty="0"/>
              <a:t> and </a:t>
            </a:r>
            <a:r>
              <a:rPr lang="en-IN" sz="1800" b="1" dirty="0"/>
              <a:t>Natural Language Processing (NLP)</a:t>
            </a:r>
            <a:r>
              <a:rPr lang="en-IN" sz="1800" dirty="0"/>
              <a:t> to enhance legal research.</a:t>
            </a:r>
            <a:endParaRPr sz="1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1800" dirty="0"/>
              <a:t>It enables </a:t>
            </a:r>
            <a:r>
              <a:rPr lang="en-IN" sz="1800" b="1" dirty="0"/>
              <a:t>real-time retrieval</a:t>
            </a:r>
            <a:r>
              <a:rPr lang="en-IN" sz="1800" dirty="0"/>
              <a:t>, </a:t>
            </a:r>
            <a:r>
              <a:rPr lang="en-IN" sz="1800" b="1" dirty="0"/>
              <a:t>context-aware search</a:t>
            </a:r>
            <a:r>
              <a:rPr lang="en-IN" sz="1800" dirty="0"/>
              <a:t>, and </a:t>
            </a:r>
            <a:r>
              <a:rPr lang="en-IN" sz="1800" b="1" dirty="0"/>
              <a:t>intelligent summarization</a:t>
            </a:r>
            <a:r>
              <a:rPr lang="en-IN" sz="1800" dirty="0"/>
              <a:t> of legal documents.</a:t>
            </a:r>
            <a:endParaRPr sz="1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1800" dirty="0"/>
              <a:t>Improves </a:t>
            </a:r>
            <a:r>
              <a:rPr lang="en-IN" sz="1800" b="1" dirty="0"/>
              <a:t>judicial efficiency</a:t>
            </a:r>
            <a:r>
              <a:rPr lang="en-IN" sz="1800" dirty="0"/>
              <a:t> and supports </a:t>
            </a:r>
            <a:r>
              <a:rPr lang="en-IN" sz="1800" b="1" dirty="0"/>
              <a:t>data-driven decision-making</a:t>
            </a:r>
            <a:r>
              <a:rPr lang="en-IN" sz="1800" dirty="0"/>
              <a:t>.</a:t>
            </a: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838200" y="705394"/>
            <a:ext cx="10515600" cy="5471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The main challenge lies in ensuring </a:t>
            </a:r>
            <a:r>
              <a:rPr lang="en-IN" b="1" dirty="0"/>
              <a:t>quality, relevance, and accuracy</a:t>
            </a:r>
            <a:r>
              <a:rPr lang="en-IN" dirty="0"/>
              <a:t> of retrieved information.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AI models such as </a:t>
            </a:r>
            <a:r>
              <a:rPr lang="en-IN" b="1" dirty="0"/>
              <a:t>BERT</a:t>
            </a:r>
            <a:r>
              <a:rPr lang="en-IN" dirty="0"/>
              <a:t> and </a:t>
            </a:r>
            <a:r>
              <a:rPr lang="en-IN" b="1" dirty="0"/>
              <a:t>GPT</a:t>
            </a:r>
            <a:r>
              <a:rPr lang="en-IN" dirty="0"/>
              <a:t> understand legal context beyond simple keyword search.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Provides </a:t>
            </a:r>
            <a:r>
              <a:rPr lang="en-IN" b="1" dirty="0"/>
              <a:t>contextual recommendations</a:t>
            </a:r>
            <a:r>
              <a:rPr lang="en-IN" dirty="0"/>
              <a:t>, </a:t>
            </a:r>
            <a:r>
              <a:rPr lang="en-IN" b="1" dirty="0"/>
              <a:t>trend analysis</a:t>
            </a:r>
            <a:r>
              <a:rPr lang="en-IN" dirty="0"/>
              <a:t>, and </a:t>
            </a:r>
            <a:r>
              <a:rPr lang="en-IN" b="1" dirty="0"/>
              <a:t>predictive insights</a:t>
            </a:r>
            <a:r>
              <a:rPr lang="en-IN" dirty="0"/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Helps in maintaining </a:t>
            </a:r>
            <a:r>
              <a:rPr lang="en-IN" b="1" dirty="0"/>
              <a:t>consistency in judgments</a:t>
            </a:r>
            <a:r>
              <a:rPr lang="en-IN" dirty="0"/>
              <a:t> and reducing </a:t>
            </a:r>
            <a:r>
              <a:rPr lang="en-IN" b="1" dirty="0"/>
              <a:t>case resolution time</a:t>
            </a:r>
            <a:r>
              <a:rPr lang="en-IN" dirty="0"/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Addresses judicial concerns regarding </a:t>
            </a:r>
            <a:r>
              <a:rPr lang="en-IN" b="1" dirty="0"/>
              <a:t>transparency</a:t>
            </a:r>
            <a:r>
              <a:rPr lang="en-IN" dirty="0"/>
              <a:t>, </a:t>
            </a:r>
            <a:r>
              <a:rPr lang="en-IN" b="1" dirty="0"/>
              <a:t>bias</a:t>
            </a:r>
            <a:r>
              <a:rPr lang="en-IN" dirty="0"/>
              <a:t>, and </a:t>
            </a:r>
            <a:r>
              <a:rPr lang="en-IN" b="1" dirty="0"/>
              <a:t>accountability</a:t>
            </a:r>
            <a:r>
              <a:rPr lang="en-IN" dirty="0"/>
              <a:t> in AI systems.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Designed to act as a </a:t>
            </a:r>
            <a:r>
              <a:rPr lang="en-IN" b="1" dirty="0"/>
              <a:t>decision-support tool</a:t>
            </a:r>
            <a:r>
              <a:rPr lang="en-IN" dirty="0"/>
              <a:t>, not a replacement for judicial discretion.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Incorporates </a:t>
            </a:r>
            <a:r>
              <a:rPr lang="en-IN" b="1" dirty="0"/>
              <a:t>ethical AI principles</a:t>
            </a:r>
            <a:r>
              <a:rPr lang="en-IN" dirty="0"/>
              <a:t> to ensure fairness and explainability.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Facilitates </a:t>
            </a:r>
            <a:r>
              <a:rPr lang="en-IN" b="1" dirty="0"/>
              <a:t>training and adoption</a:t>
            </a:r>
            <a:r>
              <a:rPr lang="en-IN" dirty="0"/>
              <a:t> among judges and administrators for smooth implementation.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Expected outcomes: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IN" dirty="0"/>
              <a:t>Reduced legal research time by 60–70%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IN" dirty="0"/>
              <a:t>Enhanced access to case data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IN" dirty="0"/>
              <a:t>Increased accuracy and uniformity in decisions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Overall, the project aims to </a:t>
            </a:r>
            <a:r>
              <a:rPr lang="en-IN" b="1" dirty="0"/>
              <a:t>revolutionize commercial court research</a:t>
            </a:r>
            <a:r>
              <a:rPr lang="en-IN" dirty="0"/>
              <a:t> through </a:t>
            </a:r>
            <a:r>
              <a:rPr lang="en-IN" b="1" dirty="0"/>
              <a:t>AI-powered automation and intelligent analytics</a:t>
            </a:r>
            <a:r>
              <a:rPr lang="en-IN" dirty="0"/>
              <a:t>.</a:t>
            </a: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61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strument Sans SemiBold"/>
              <a:buNone/>
            </a:pPr>
            <a:r>
              <a:rPr lang="en-IN" b="1"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Literature Review: Existing AI Tools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016" y="1375954"/>
            <a:ext cx="10929257" cy="5852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12405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Literature Review : </a:t>
            </a:r>
            <a:br>
              <a:rPr lang="en-IN"/>
            </a:br>
            <a:r>
              <a:rPr lang="en-IN"/>
              <a:t>Research Gaps and Need for Proposed System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5702" y="1406013"/>
            <a:ext cx="8822801" cy="5443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Problem Statement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838200" y="174205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 i="1" dirty="0"/>
              <a:t>Commercial courts face inefficiencies in managing large volumes of legal data, resulting in delayed judgments and inconsistent case analysis due to the absence of an intelligent, AI-driven research system.</a:t>
            </a:r>
            <a:endParaRPr sz="2000" dirty="0"/>
          </a:p>
        </p:txBody>
      </p:sp>
      <p:grpSp>
        <p:nvGrpSpPr>
          <p:cNvPr id="124" name="Google Shape;124;p19"/>
          <p:cNvGrpSpPr/>
          <p:nvPr/>
        </p:nvGrpSpPr>
        <p:grpSpPr>
          <a:xfrm>
            <a:off x="2172788" y="2530824"/>
            <a:ext cx="7846423" cy="4467498"/>
            <a:chOff x="1725573" y="3156823"/>
            <a:chExt cx="11179254" cy="5983010"/>
          </a:xfrm>
        </p:grpSpPr>
        <p:pic>
          <p:nvPicPr>
            <p:cNvPr id="125" name="Google Shape;125;p19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25573" y="3156823"/>
              <a:ext cx="11179254" cy="59830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9"/>
            <p:cNvSpPr/>
            <p:nvPr/>
          </p:nvSpPr>
          <p:spPr>
            <a:xfrm>
              <a:off x="6889626" y="3722893"/>
              <a:ext cx="3088840" cy="386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F71"/>
                </a:buClr>
                <a:buSzPts val="1350"/>
                <a:buFont typeface="Instrument Sans SemiBold"/>
                <a:buNone/>
              </a:pPr>
              <a:r>
                <a:rPr lang="en-IN" sz="1350" b="1" i="0" u="none" strike="noStrike" cap="none">
                  <a:solidFill>
                    <a:srgbClr val="5B5F71"/>
                  </a:solidFill>
                  <a:latin typeface="Instrument Sans SemiBold"/>
                  <a:ea typeface="Instrument Sans SemiBold"/>
                  <a:cs typeface="Instrument Sans SemiBold"/>
                  <a:sym typeface="Instrument Sans SemiBold"/>
                </a:rPr>
                <a:t>Visible Delays</a:t>
              </a:r>
              <a:endPara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7" name="Google Shape;127;p19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8897" y="3785528"/>
              <a:ext cx="274563" cy="2745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9"/>
            <p:cNvSpPr/>
            <p:nvPr/>
          </p:nvSpPr>
          <p:spPr>
            <a:xfrm>
              <a:off x="6889626" y="4821148"/>
              <a:ext cx="3485026" cy="386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F71"/>
                </a:buClr>
                <a:buSzPts val="1350"/>
                <a:buFont typeface="Instrument Sans SemiBold"/>
                <a:buNone/>
              </a:pPr>
              <a:r>
                <a:rPr lang="en-IN" sz="1350" b="1" i="0" u="none" strike="noStrike" cap="none" dirty="0">
                  <a:solidFill>
                    <a:srgbClr val="5B5F71"/>
                  </a:solidFill>
                  <a:latin typeface="Instrument Sans SemiBold"/>
                  <a:ea typeface="Instrument Sans SemiBold"/>
                  <a:cs typeface="Instrument Sans SemiBold"/>
                  <a:sym typeface="Instrument Sans SemiBold"/>
                </a:rPr>
                <a:t>Inconsistent Judgments</a:t>
              </a:r>
              <a:endParaRPr sz="135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9" name="Google Shape;129;p19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68897" y="4883782"/>
              <a:ext cx="274563" cy="2745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19"/>
            <p:cNvSpPr/>
            <p:nvPr/>
          </p:nvSpPr>
          <p:spPr>
            <a:xfrm>
              <a:off x="6889626" y="5919401"/>
              <a:ext cx="3206602" cy="386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F71"/>
                </a:buClr>
                <a:buSzPts val="1350"/>
                <a:buFont typeface="Instrument Sans SemiBold"/>
                <a:buNone/>
              </a:pPr>
              <a:r>
                <a:rPr lang="en-IN" sz="1350" b="1" i="0" u="none" strike="noStrike" cap="none">
                  <a:solidFill>
                    <a:srgbClr val="5B5F71"/>
                  </a:solidFill>
                  <a:latin typeface="Instrument Sans SemiBold"/>
                  <a:ea typeface="Instrument Sans SemiBold"/>
                  <a:cs typeface="Instrument Sans SemiBold"/>
                  <a:sym typeface="Instrument Sans SemiBold"/>
                </a:rPr>
                <a:t>Manual Data Overload</a:t>
              </a:r>
              <a:endPara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1" name="Google Shape;131;p19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68897" y="5982037"/>
              <a:ext cx="274563" cy="2745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19"/>
            <p:cNvSpPr/>
            <p:nvPr/>
          </p:nvSpPr>
          <p:spPr>
            <a:xfrm>
              <a:off x="6889626" y="7017656"/>
              <a:ext cx="4141404" cy="386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F71"/>
                </a:buClr>
                <a:buSzPts val="1350"/>
                <a:buFont typeface="Instrument Sans SemiBold"/>
                <a:buNone/>
              </a:pPr>
              <a:r>
                <a:rPr lang="en-IN" sz="1350" b="1" i="0" u="none" strike="noStrike" cap="none">
                  <a:solidFill>
                    <a:srgbClr val="5B5F71"/>
                  </a:solidFill>
                  <a:latin typeface="Instrument Sans SemiBold"/>
                  <a:ea typeface="Instrument Sans SemiBold"/>
                  <a:cs typeface="Instrument Sans SemiBold"/>
                  <a:sym typeface="Instrument Sans SemiBold"/>
                </a:rPr>
                <a:t>Lack of Context‑Aware Tools</a:t>
              </a:r>
              <a:endPara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3" name="Google Shape;133;p19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168897" y="7080291"/>
              <a:ext cx="274563" cy="2745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19"/>
            <p:cNvSpPr/>
            <p:nvPr/>
          </p:nvSpPr>
          <p:spPr>
            <a:xfrm>
              <a:off x="6889626" y="8129638"/>
              <a:ext cx="5038885" cy="386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5B5F71"/>
                </a:buClr>
                <a:buSzPts val="1350"/>
                <a:buFont typeface="Instrument Sans SemiBold"/>
                <a:buNone/>
              </a:pPr>
              <a:r>
                <a:rPr lang="en-IN" sz="1350" b="1" i="0" u="none" strike="noStrike" cap="none">
                  <a:solidFill>
                    <a:srgbClr val="5B5F71"/>
                  </a:solidFill>
                  <a:latin typeface="Instrument Sans SemiBold"/>
                  <a:ea typeface="Instrument Sans SemiBold"/>
                  <a:cs typeface="Instrument Sans SemiBold"/>
                  <a:sym typeface="Instrument Sans SemiBold"/>
                </a:rPr>
                <a:t>Root: No Intelligent Legal Research</a:t>
              </a:r>
              <a:endPara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5" name="Google Shape;135;p19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168897" y="8192273"/>
              <a:ext cx="274563" cy="2745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Objectives</a:t>
            </a:r>
            <a:endParaRPr/>
          </a:p>
        </p:txBody>
      </p:sp>
      <p:pic>
        <p:nvPicPr>
          <p:cNvPr id="141" name="Google Shape;14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541417"/>
            <a:ext cx="10515599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792479" y="294785"/>
            <a:ext cx="10515600" cy="697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 dirty="0"/>
              <a:t>Proposed Methodology : Initial Steps</a:t>
            </a:r>
            <a:endParaRPr dirty="0"/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479" y="386225"/>
            <a:ext cx="10515600" cy="682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129284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strument Sans SemiBold"/>
              <a:buNone/>
            </a:pPr>
            <a:r>
              <a:rPr lang="en-IN" b="1"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Proposed Methodology:</a:t>
            </a:r>
            <a:br>
              <a:rPr lang="en-IN" b="1"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</a:br>
            <a:r>
              <a:rPr lang="en-IN" b="1"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Advanced Implementation</a:t>
            </a:r>
            <a:br>
              <a:rPr lang="en-IN"/>
            </a:b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853440"/>
            <a:ext cx="10613571" cy="6479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Result </a:t>
            </a:r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dirty="0"/>
              <a:t>&lt;in tabular, graphical, figures&gt;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dirty="0"/>
              <a:t>&lt;to be updated later&gt;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&lt;One slide&gt;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444</Words>
  <Application>Microsoft Office PowerPoint</Application>
  <PresentationFormat>Widescreen</PresentationFormat>
  <Paragraphs>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Instrument Sans SemiBold</vt:lpstr>
      <vt:lpstr>Play</vt:lpstr>
      <vt:lpstr>Arial</vt:lpstr>
      <vt:lpstr>Office Theme</vt:lpstr>
      <vt:lpstr>AI Driven Research Engine for Commercial Courts</vt:lpstr>
      <vt:lpstr>Outline</vt:lpstr>
      <vt:lpstr>Introduction</vt:lpstr>
      <vt:lpstr>PowerPoint Presentation</vt:lpstr>
      <vt:lpstr>Literature Review: Existing AI Tools</vt:lpstr>
      <vt:lpstr>Literature Review :  Research Gaps and Need for Proposed System</vt:lpstr>
      <vt:lpstr>Problem Statement</vt:lpstr>
      <vt:lpstr>Objectives</vt:lpstr>
      <vt:lpstr>Proposed Methodology : Initial Steps</vt:lpstr>
      <vt:lpstr>Proposed Methodology: Advanced Implementation </vt:lpstr>
      <vt:lpstr>Result 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Shreyas Kumar Singh</dc:creator>
  <cp:lastModifiedBy>Shreyas Kumar Singh</cp:lastModifiedBy>
  <cp:revision>4</cp:revision>
  <dcterms:modified xsi:type="dcterms:W3CDTF">2026-02-19T08:11:41Z</dcterms:modified>
</cp:coreProperties>
</file>